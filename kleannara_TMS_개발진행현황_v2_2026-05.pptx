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kleannara  ·  TMS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9144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2860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TMS (Transport Management System) 시스템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83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AA"/>
                </a:solidFill>
              </a:rPr>
              <a:t>물류 운송 자동화 · 배차 최적화 · 운송비 관리 통합 플랫폼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52144"/>
            <a:ext cx="5212080" cy="11155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1152144"/>
            <a:ext cx="36576" cy="11155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225296"/>
            <a:ext cx="5010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TMS란?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444752"/>
            <a:ext cx="5010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F1F5F9"/>
                </a:solidFill>
              </a:rPr>
              <a:t>Transport Management System — 물류 기업의 출하 계획부터 배차 지시,
운송 실행, 운임 정산까지 전 과정을 통합·자동화하는 운송관리 시스템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377440"/>
            <a:ext cx="5212080" cy="87782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" y="2377440"/>
            <a:ext cx="36576" cy="87782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" y="2450592"/>
            <a:ext cx="5010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800"/>
                </a:solidFill>
              </a:rPr>
              <a:t>시스템 연계 구조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2688336"/>
            <a:ext cx="1083564" cy="420624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" y="2688336"/>
            <a:ext cx="1083564" cy="54864"/>
          </a:xfrm>
          <a:prstGeom prst="rect">
            <a:avLst/>
          </a:prstGeom>
          <a:solidFill>
            <a:srgbClr val="606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743200"/>
            <a:ext cx="10835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6CFC"/>
                </a:solidFill>
              </a:rPr>
              <a:t>ERP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2926080"/>
            <a:ext cx="10835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출고지시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6172" y="277977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9052" y="2688336"/>
            <a:ext cx="1083564" cy="420624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59052" y="2688336"/>
            <a:ext cx="108356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9052" y="2743200"/>
            <a:ext cx="10835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WMS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9052" y="2926080"/>
            <a:ext cx="10835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창고관리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277977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2688336"/>
            <a:ext cx="1083564" cy="420624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88920" y="2688336"/>
            <a:ext cx="1083564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2743200"/>
            <a:ext cx="10835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AA"/>
                </a:solidFill>
              </a:rPr>
              <a:t>TMS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2926080"/>
            <a:ext cx="10835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운송관리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5908" y="277977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18788" y="2688336"/>
            <a:ext cx="1083564" cy="420624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18788" y="2688336"/>
            <a:ext cx="1083564" cy="548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18788" y="2743200"/>
            <a:ext cx="10835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800"/>
                </a:solidFill>
              </a:rPr>
              <a:t>현장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8788" y="2926080"/>
            <a:ext cx="10835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배송실행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3364992"/>
            <a:ext cx="521208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4592" y="3364992"/>
            <a:ext cx="36576" cy="7498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" y="3456432"/>
            <a:ext cx="274320" cy="56692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" y="3456432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3438144"/>
            <a:ext cx="4645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배차 자동화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621024"/>
            <a:ext cx="4645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 i="0">
                <a:solidFill>
                  <a:srgbClr val="94A3B8"/>
                </a:solidFill>
              </a:rPr>
              <a:t>출고 데이터 기반 차량 용량·경로·우선순위를
자동 계산, 최적 배차안 즉시 생성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4169664"/>
            <a:ext cx="521208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4592" y="4169664"/>
            <a:ext cx="36576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2608" y="4261104"/>
            <a:ext cx="274320" cy="56692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" y="4261104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242816"/>
            <a:ext cx="4645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차량 통합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4425696"/>
            <a:ext cx="4645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 i="0">
                <a:solidFill>
                  <a:srgbClr val="94A3B8"/>
                </a:solidFill>
              </a:rPr>
              <a:t>차량 제원(톤수·파렛트·적재중량)·차급 기준
등록 및 배차 자동 매핑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" y="4974336"/>
            <a:ext cx="521208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4592" y="4974336"/>
            <a:ext cx="36576" cy="74980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2608" y="5065776"/>
            <a:ext cx="274320" cy="56692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" y="5065776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047488"/>
            <a:ext cx="4645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운송경로·비용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230368"/>
            <a:ext cx="4645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 i="0">
                <a:solidFill>
                  <a:srgbClr val="94A3B8"/>
                </a:solidFill>
              </a:rPr>
              <a:t>납품처별 배송구역·우선순위·경유 경로 등록
운송경로 비용 기준 운임 자동 산출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" y="5779008"/>
            <a:ext cx="521208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592" y="5779008"/>
            <a:ext cx="36576" cy="7498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2608" y="5870448"/>
            <a:ext cx="274320" cy="56692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" y="5870448"/>
            <a:ext cx="27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852160"/>
            <a:ext cx="4645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실적 분석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035040"/>
            <a:ext cx="4645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 i="0">
                <a:solidFill>
                  <a:srgbClr val="94A3B8"/>
                </a:solidFill>
              </a:rPr>
              <a:t>배차 실적·노선별 운임·차량 가동률 KPI를
대시보드에서 실시간 모니터링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9552" y="1152144"/>
            <a:ext cx="6464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도입 기대효과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9552" y="1408176"/>
            <a:ext cx="6464808" cy="7315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559552" y="1481328"/>
            <a:ext cx="6464808" cy="1239012"/>
          </a:xfrm>
          <a:prstGeom prst="rect">
            <a:avLst/>
          </a:prstGeom>
          <a:solidFill>
            <a:srgbClr val="1A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59552" y="1481328"/>
            <a:ext cx="6464808" cy="36576"/>
          </a:xfrm>
          <a:prstGeom prst="rect">
            <a:avLst/>
          </a:prstGeom>
          <a:solidFill>
            <a:srgbClr val="606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87568" y="1591056"/>
            <a:ext cx="329184" cy="329184"/>
          </a:xfrm>
          <a:prstGeom prst="rect">
            <a:avLst/>
          </a:prstGeom>
          <a:solidFill>
            <a:srgbClr val="606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87568" y="15910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08192" y="15727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배차 업무 효율화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58984" y="1572768"/>
            <a:ext cx="1737360" cy="237744"/>
          </a:xfrm>
          <a:prstGeom prst="rect">
            <a:avLst/>
          </a:prstGeom>
          <a:solidFill>
            <a:srgbClr val="1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58984" y="15727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6CFC"/>
                </a:solidFill>
              </a:rPr>
              <a:t>▶  업무시간 70% 절감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08192" y="1828800"/>
            <a:ext cx="5806440" cy="4572"/>
          </a:xfrm>
          <a:prstGeom prst="rect">
            <a:avLst/>
          </a:prstGeom>
          <a:solidFill>
            <a:srgbClr val="2D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08192" y="1865376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수작업 배차 → 자동배차 전환으로 담당자 업무 부하 대폭 감소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08192" y="2066544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배차 처리 시간 대폭 단축 및 배차 품질 표준화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08192" y="2267712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오배차·누락 사전 차단, 배차 이력 통합 관리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9552" y="2784348"/>
            <a:ext cx="6464808" cy="1239012"/>
          </a:xfrm>
          <a:prstGeom prst="rect">
            <a:avLst/>
          </a:prstGeom>
          <a:solidFill>
            <a:srgbClr val="0D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559552" y="2784348"/>
            <a:ext cx="6464808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87568" y="2894076"/>
            <a:ext cx="329184" cy="32918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87568" y="28940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08192" y="287578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운송비 절감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58984" y="2875788"/>
            <a:ext cx="1737360" cy="237744"/>
          </a:xfrm>
          <a:prstGeom prst="rect">
            <a:avLst/>
          </a:prstGeom>
          <a:solidFill>
            <a:srgbClr val="003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58984" y="287578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D4AA"/>
                </a:solidFill>
              </a:rPr>
              <a:t>▶  운송비 15~25% 절감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3131820"/>
            <a:ext cx="5806440" cy="4572"/>
          </a:xfrm>
          <a:prstGeom prst="rect">
            <a:avLst/>
          </a:prstGeom>
          <a:solidFill>
            <a:srgbClr val="2D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08192" y="3168396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혼적·적재율 최적화로 공차율 감소 및 차량 운용 효율 향상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08192" y="3369564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경로 최적화로 불필요한 이동 거리·연료비 절감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08192" y="3570732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운송경로별 비용 기준 자동 정산으로 운임 투명성 확보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59552" y="4087368"/>
            <a:ext cx="6464808" cy="1239012"/>
          </a:xfrm>
          <a:prstGeom prst="rect">
            <a:avLst/>
          </a:prstGeom>
          <a:solidFill>
            <a:srgbClr val="0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559552" y="4087368"/>
            <a:ext cx="646480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87568" y="4197096"/>
            <a:ext cx="329184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87568" y="41970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08192" y="417880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고객 서비스 향상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58984" y="4178808"/>
            <a:ext cx="1737360" cy="237744"/>
          </a:xfrm>
          <a:prstGeom prst="rect">
            <a:avLst/>
          </a:prstGeom>
          <a:solidFill>
            <a:srgbClr val="10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58984" y="41788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8BDF8"/>
                </a:solidFill>
              </a:rPr>
              <a:t>▶  납기 준수율 향상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08192" y="4434840"/>
            <a:ext cx="5806440" cy="4572"/>
          </a:xfrm>
          <a:prstGeom prst="rect">
            <a:avLst/>
          </a:prstGeom>
          <a:solidFill>
            <a:srgbClr val="2D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08192" y="4471416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납품처별 배송 우선순위 반영으로 납기 약속 준수율 향상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08192" y="4672584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배송 현황 실시간 조회 및 이상 발생 시 즉각 대응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08192" y="4873752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정확한 배송 예정 시간(ETA) 안내로 고객 신뢰도 제고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59552" y="5390388"/>
            <a:ext cx="6464808" cy="1239012"/>
          </a:xfrm>
          <a:prstGeom prst="rect">
            <a:avLst/>
          </a:prstGeom>
          <a:solidFill>
            <a:srgbClr val="2A1F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59552" y="5390388"/>
            <a:ext cx="6464808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687568" y="5500116"/>
            <a:ext cx="329184" cy="32918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87568" y="55001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08192" y="548182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경영 의사결정 지원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158984" y="5481828"/>
            <a:ext cx="1737360" cy="237744"/>
          </a:xfrm>
          <a:prstGeom prst="rect">
            <a:avLst/>
          </a:prstGeom>
          <a:solidFill>
            <a:srgbClr val="4C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158984" y="54818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B800"/>
                </a:solidFill>
              </a:rPr>
              <a:t>▶  물류 전체 가시성 확보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5737860"/>
            <a:ext cx="5806440" cy="4572"/>
          </a:xfrm>
          <a:prstGeom prst="rect">
            <a:avLst/>
          </a:prstGeom>
          <a:solidFill>
            <a:srgbClr val="2D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08192" y="5774436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배차 실적·운임·차량 가동률 KPI 대시보드 실시간 제공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08192" y="5975604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노선별·차급별 비용 분석으로 운송 전략 수립 지원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08192" y="6176772"/>
            <a:ext cx="580644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·  ERP·WMS 데이터 통합 연동, 물류 전체 가시성 확보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kleannara  ·  TMS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9144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2860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TMS 개발 일정 및 단계별 추진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583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AA"/>
                </a:solidFill>
              </a:rPr>
              <a:t>1단계: 배차 효율화 (4~6월)  ·  2단계: 차량관제 및 운송비 관리 (7~12월)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115568"/>
            <a:ext cx="5856732" cy="804672"/>
          </a:xfrm>
          <a:prstGeom prst="rect">
            <a:avLst/>
          </a:prstGeom>
          <a:solidFill>
            <a:srgbClr val="0D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1115568"/>
            <a:ext cx="585673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" y="1261872"/>
            <a:ext cx="530352" cy="5120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1261872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1단계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207008"/>
            <a:ext cx="48966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배차 효율화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1444752"/>
            <a:ext cx="48966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자동배차 기능을 통한 배차 효율화 향상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1645920"/>
            <a:ext cx="48966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📅  2026. 04 ~ 06월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7628" y="1115568"/>
            <a:ext cx="5856732" cy="804672"/>
          </a:xfrm>
          <a:prstGeom prst="rect">
            <a:avLst/>
          </a:prstGeom>
          <a:solidFill>
            <a:srgbClr val="2A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7628" y="1115568"/>
            <a:ext cx="5856732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3932" y="1261872"/>
            <a:ext cx="5303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1261872"/>
            <a:ext cx="5303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2단계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4012" y="1207008"/>
            <a:ext cx="48966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차량관제 및 운송비 관리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444752"/>
            <a:ext cx="48966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94A3B8"/>
                </a:solidFill>
              </a:rPr>
              <a:t>실시간 차량관제 · 운임 정산 · 실적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645920"/>
            <a:ext cx="48966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800"/>
                </a:solidFill>
              </a:rPr>
              <a:t>📅  2026. 07 ~ 12월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2048255"/>
            <a:ext cx="11859768" cy="32186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2048255"/>
            <a:ext cx="11859768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2139695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개발 일정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2450591"/>
            <a:ext cx="992632" cy="292608"/>
          </a:xfrm>
          <a:prstGeom prst="rect">
            <a:avLst/>
          </a:prstGeom>
          <a:solidFill>
            <a:srgbClr val="0D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4월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9840" y="2450591"/>
            <a:ext cx="992632" cy="292608"/>
          </a:xfrm>
          <a:prstGeom prst="rect">
            <a:avLst/>
          </a:prstGeom>
          <a:solidFill>
            <a:srgbClr val="0D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984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5월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0760" y="2450591"/>
            <a:ext cx="992632" cy="292608"/>
          </a:xfrm>
          <a:prstGeom prst="rect">
            <a:avLst/>
          </a:prstGeom>
          <a:solidFill>
            <a:srgbClr val="0D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076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6월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21680" y="2450591"/>
            <a:ext cx="992632" cy="292608"/>
          </a:xfrm>
          <a:prstGeom prst="rect">
            <a:avLst/>
          </a:prstGeom>
          <a:solidFill>
            <a:srgbClr val="2A1F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2168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</a:rPr>
              <a:t>7월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32600" y="2450591"/>
            <a:ext cx="992632" cy="292608"/>
          </a:xfrm>
          <a:prstGeom prst="rect">
            <a:avLst/>
          </a:prstGeom>
          <a:solidFill>
            <a:srgbClr val="2A1F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260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</a:rPr>
              <a:t>8월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43520" y="2450591"/>
            <a:ext cx="992632" cy="292608"/>
          </a:xfrm>
          <a:prstGeom prst="rect">
            <a:avLst/>
          </a:prstGeom>
          <a:solidFill>
            <a:srgbClr val="2A1F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352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</a:rPr>
              <a:t>9월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54440" y="2450591"/>
            <a:ext cx="992632" cy="292608"/>
          </a:xfrm>
          <a:prstGeom prst="rect">
            <a:avLst/>
          </a:prstGeom>
          <a:solidFill>
            <a:srgbClr val="2A1F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444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</a:rPr>
              <a:t>10월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65360" y="2450591"/>
            <a:ext cx="992632" cy="292608"/>
          </a:xfrm>
          <a:prstGeom prst="rect">
            <a:avLst/>
          </a:prstGeom>
          <a:solidFill>
            <a:srgbClr val="2A1F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6536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</a:rPr>
              <a:t>11월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76280" y="2450591"/>
            <a:ext cx="992632" cy="292608"/>
          </a:xfrm>
          <a:prstGeom prst="rect">
            <a:avLst/>
          </a:prstGeom>
          <a:solidFill>
            <a:srgbClr val="2A1F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76280" y="2450591"/>
            <a:ext cx="992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</a:rPr>
              <a:t>12월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39387" y="2450591"/>
            <a:ext cx="14630" cy="27980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54094" y="4974335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6B6B"/>
                </a:solidFill>
              </a:rPr>
              <a:t>TODAY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2798063"/>
            <a:ext cx="11786616" cy="318211"/>
          </a:xfrm>
          <a:prstGeom prst="rect">
            <a:avLst/>
          </a:prstGeom>
          <a:solidFill>
            <a:srgbClr val="0D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1168" y="2798063"/>
            <a:ext cx="22860" cy="318211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2834639"/>
            <a:ext cx="2267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1단계  배차 효율화 개발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" y="2999231"/>
            <a:ext cx="22677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자동배차 기능을 통한 배차 효율화 향상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79776" y="279806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90696" y="2798063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01616" y="279806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2536" y="2798063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23456" y="279806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34376" y="2798063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45296" y="279806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56216" y="2798063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867136" y="279806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79776" y="2862071"/>
            <a:ext cx="3032760" cy="190195"/>
          </a:xfrm>
          <a:prstGeom prst="rect">
            <a:avLst/>
          </a:prstGeom>
          <a:solidFill>
            <a:srgbClr val="0A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79776" y="2862071"/>
            <a:ext cx="2122932" cy="190195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0" y="2862071"/>
            <a:ext cx="365760" cy="19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70%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85688" y="2880359"/>
            <a:ext cx="457200" cy="153619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85688" y="2880359"/>
            <a:ext cx="457200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</a:rPr>
              <a:t>진행중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1168" y="3138219"/>
            <a:ext cx="11786616" cy="31821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3174795"/>
            <a:ext cx="2267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</a:rPr>
              <a:t>  WMS · ERP 출고 데이터 연동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" y="3339387"/>
            <a:ext cx="22677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출고문서(SHPDH/SHPDI) · ERP 인터페이스(IFWMS113)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79776" y="313821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790696" y="3138219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01616" y="313821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12536" y="3138219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823456" y="313821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34376" y="3138219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45296" y="313821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856216" y="3138219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867136" y="313821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79776" y="3202227"/>
            <a:ext cx="1516380" cy="190195"/>
          </a:xfrm>
          <a:prstGeom prst="rect">
            <a:avLst/>
          </a:prstGeom>
          <a:solidFill>
            <a:srgbClr val="0A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79776" y="3202227"/>
            <a:ext cx="1516380" cy="19019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34640" y="3202227"/>
            <a:ext cx="365760" cy="19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69308" y="3220515"/>
            <a:ext cx="457200" cy="153619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9308" y="3220515"/>
            <a:ext cx="457200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</a:rPr>
              <a:t>완료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1168" y="3478375"/>
            <a:ext cx="11786616" cy="31821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912" y="3514951"/>
            <a:ext cx="2267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</a:rPr>
              <a:t>  기준정보 관리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" y="3679543"/>
            <a:ext cx="22677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차량·납품처·운송경로·고정차량(TMS_CARCLASS 16차급)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79776" y="347837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90696" y="3478375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801616" y="347837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812536" y="3478375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23456" y="347837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34376" y="3478375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845296" y="347837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56216" y="3478375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867136" y="347837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083052" y="3542383"/>
            <a:ext cx="2325116" cy="190195"/>
          </a:xfrm>
          <a:prstGeom prst="rect">
            <a:avLst/>
          </a:prstGeom>
          <a:solidFill>
            <a:srgbClr val="0A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083052" y="3542383"/>
            <a:ext cx="1976348" cy="19019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37916" y="3542383"/>
            <a:ext cx="365760" cy="19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85%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1320" y="3560671"/>
            <a:ext cx="457200" cy="153619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1320" y="3560671"/>
            <a:ext cx="457200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</a:rPr>
              <a:t>진행중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1168" y="3818531"/>
            <a:ext cx="11786616" cy="31821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8912" y="3855107"/>
            <a:ext cx="2267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</a:rPr>
              <a:t>  자동배차 알고리즘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" y="4019699"/>
            <a:ext cx="22677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배차전략 설정 · 용량/경로 최적화 · 배차 분할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79776" y="3818531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790696" y="3818531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801616" y="3818531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812536" y="3818531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823456" y="3818531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834376" y="3818531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845296" y="3818531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56216" y="3818531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67136" y="3818531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790696" y="3882539"/>
            <a:ext cx="2021840" cy="190195"/>
          </a:xfrm>
          <a:prstGeom prst="rect">
            <a:avLst/>
          </a:prstGeom>
          <a:solidFill>
            <a:srgbClr val="0A3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790696" y="3882539"/>
            <a:ext cx="1112012" cy="19019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845560" y="3882539"/>
            <a:ext cx="365760" cy="19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55%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885688" y="3900827"/>
            <a:ext cx="457200" cy="153619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85688" y="3900827"/>
            <a:ext cx="457200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72A"/>
                </a:solidFill>
              </a:rPr>
              <a:t>진행중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01168" y="4158687"/>
            <a:ext cx="11786616" cy="318211"/>
          </a:xfrm>
          <a:prstGeom prst="rect">
            <a:avLst/>
          </a:prstGeom>
          <a:solidFill>
            <a:srgbClr val="221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01168" y="4158687"/>
            <a:ext cx="22860" cy="318211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10896" y="4195263"/>
            <a:ext cx="2267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2단계  차량관제 및 운송비 관리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10896" y="4359855"/>
            <a:ext cx="22677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실시간 차량관제 · 운임 정산 · 실적 분석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79776" y="4158687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90696" y="4158687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801616" y="4158687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812536" y="4158687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823456" y="4158687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834376" y="4158687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845296" y="4158687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856216" y="4158687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867136" y="4158687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812536" y="4222695"/>
            <a:ext cx="6065520" cy="190195"/>
          </a:xfrm>
          <a:prstGeom prst="rect">
            <a:avLst/>
          </a:prstGeom>
          <a:solidFill>
            <a:srgbClr val="3D2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951208" y="4240983"/>
            <a:ext cx="457200" cy="153619"/>
          </a:xfrm>
          <a:prstGeom prst="rect">
            <a:avLst/>
          </a:prstGeom>
          <a:solidFill>
            <a:srgbClr val="3D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951208" y="4240983"/>
            <a:ext cx="457200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4A3B8"/>
                </a:solidFill>
              </a:rPr>
              <a:t>예정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01168" y="4498843"/>
            <a:ext cx="11786616" cy="31821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38912" y="4535419"/>
            <a:ext cx="2267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</a:rPr>
              <a:t>  GPS 실시간 차량 위치 관제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38912" y="4700011"/>
            <a:ext cx="22677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실시간 위치 추적 · 이상 경보 · 배송 지연 알림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79776" y="449884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790696" y="4498843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01616" y="449884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812536" y="4498843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23456" y="449884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834376" y="4498843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845296" y="449884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856216" y="4498843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867136" y="4498843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812536" y="4562851"/>
            <a:ext cx="2830576" cy="190195"/>
          </a:xfrm>
          <a:prstGeom prst="rect">
            <a:avLst/>
          </a:prstGeom>
          <a:solidFill>
            <a:srgbClr val="3D2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16264" y="4581139"/>
            <a:ext cx="457200" cy="153619"/>
          </a:xfrm>
          <a:prstGeom prst="rect">
            <a:avLst/>
          </a:prstGeom>
          <a:solidFill>
            <a:srgbClr val="3D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716264" y="4581139"/>
            <a:ext cx="457200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4A3B8"/>
                </a:solidFill>
              </a:rPr>
              <a:t>예정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01168" y="4838999"/>
            <a:ext cx="11786616" cy="31821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38912" y="4875575"/>
            <a:ext cx="2267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</a:rPr>
              <a:t>  운송비 자동 정산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8912" y="5040167"/>
            <a:ext cx="22677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경로·중량 기반 운임 자동 계산 · 비용 분석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79776" y="483899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790696" y="4838999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801616" y="483899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12536" y="4838999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823456" y="483899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834376" y="4838999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845296" y="483899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856216" y="4838999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867136" y="4838999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632192" y="4903007"/>
            <a:ext cx="2830576" cy="190195"/>
          </a:xfrm>
          <a:prstGeom prst="rect">
            <a:avLst/>
          </a:prstGeom>
          <a:solidFill>
            <a:srgbClr val="3D2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535920" y="4921295"/>
            <a:ext cx="457200" cy="153619"/>
          </a:xfrm>
          <a:prstGeom prst="rect">
            <a:avLst/>
          </a:prstGeom>
          <a:solidFill>
            <a:srgbClr val="3D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535920" y="4921295"/>
            <a:ext cx="457200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4A3B8"/>
                </a:solidFill>
              </a:rPr>
              <a:t>예정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01168" y="5179155"/>
            <a:ext cx="11786616" cy="318211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38912" y="5215731"/>
            <a:ext cx="2267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F5F9"/>
                </a:solidFill>
              </a:rPr>
              <a:t>  실적 KPI 대시보드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38912" y="5380323"/>
            <a:ext cx="226771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월별·노선별·차량별 KPI · 대시보드 고도화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79776" y="517915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790696" y="5179155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801616" y="517915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812536" y="5179155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823456" y="517915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834376" y="5179155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845296" y="517915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856216" y="5179155"/>
            <a:ext cx="1010920" cy="318211"/>
          </a:xfrm>
          <a:prstGeom prst="rect">
            <a:avLst/>
          </a:prstGeom>
          <a:solidFill>
            <a:srgbClr val="12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867136" y="5179155"/>
            <a:ext cx="1010920" cy="318211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058400" y="5243163"/>
            <a:ext cx="1819656" cy="190195"/>
          </a:xfrm>
          <a:prstGeom prst="rect">
            <a:avLst/>
          </a:prstGeom>
          <a:solidFill>
            <a:srgbClr val="3D2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951208" y="5261451"/>
            <a:ext cx="457200" cy="153619"/>
          </a:xfrm>
          <a:prstGeom prst="rect">
            <a:avLst/>
          </a:prstGeom>
          <a:solidFill>
            <a:srgbClr val="3D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951208" y="5261451"/>
            <a:ext cx="457200" cy="153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4A3B8"/>
                </a:solidFill>
              </a:rPr>
              <a:t>예정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64592" y="5394959"/>
            <a:ext cx="11859768" cy="135331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64592" y="5394959"/>
            <a:ext cx="1185976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29184" y="5486399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단계별 주요 산출물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92608" y="5742431"/>
            <a:ext cx="57652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</a:rPr>
              <a:t>1단계  |  4 ~ 6월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92608" y="598017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✔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12064" y="598017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WMS·ERP 출고 데이터 연동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92608" y="616305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✔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12064" y="616305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차량·납품처·운송경로 기준정보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92608" y="634593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12064" y="634593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고정차량 관리 (16차급)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92608" y="652881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✔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12064" y="652881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자동배차 알고리즘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92608" y="671169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◷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12064" y="671169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배차 결과 확정·지시서 출력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149340" y="5742431"/>
            <a:ext cx="57652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800"/>
                </a:solidFill>
              </a:rPr>
              <a:t>2단계  |  7 ~ 12월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149340" y="598017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◷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368796" y="598017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GPS 실시간 차량 위치 관제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149340" y="616305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◷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368796" y="616305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이상경보·배송 지연 알림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149340" y="634593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◷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368796" y="634593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경로·중량 기반 운임 자동 정산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149340" y="652881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◷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368796" y="652881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차량별·노선별 운행 실적 분석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149340" y="6711695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◷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368796" y="6711695"/>
            <a:ext cx="55275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1F5F9"/>
                </a:solidFill>
              </a:rPr>
              <a:t>KPI 대시보드 고도화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03620" y="5705855"/>
            <a:ext cx="7315" cy="969265"/>
          </a:xfrm>
          <a:prstGeom prst="rect">
            <a:avLst/>
          </a:prstGeom>
          <a:solidFill>
            <a:srgbClr val="2D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366760" y="6574536"/>
            <a:ext cx="146304" cy="12801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549640" y="652881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완료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9262872" y="6574536"/>
            <a:ext cx="146304" cy="12801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445752" y="652881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진행중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158984" y="6574536"/>
            <a:ext cx="146304" cy="128016"/>
          </a:xfrm>
          <a:prstGeom prst="rect">
            <a:avLst/>
          </a:prstGeom>
          <a:solidFill>
            <a:srgbClr val="3D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0341864" y="652881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예정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1055096" y="6574536"/>
            <a:ext cx="146304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1237976" y="652881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현재 시점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