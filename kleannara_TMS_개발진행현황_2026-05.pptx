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640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CAF9"/>
                </a:solidFill>
              </a:rPr>
              <a:t>kleannara TMS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25603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TMS (Transport Management System) 시스템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713232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BFF"/>
                </a:solidFill>
              </a:rPr>
              <a:t>개발팀  |  보고일: 2026년 5월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73152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BFDBFF"/>
                </a:solidFill>
              </a:rPr>
              <a:t>1 / 2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078992"/>
            <a:ext cx="50749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1078992"/>
            <a:ext cx="5074920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24712"/>
            <a:ext cx="4892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📌  TMS란 무엇인가?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" y="1517904"/>
            <a:ext cx="4818888" cy="71323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72768"/>
            <a:ext cx="4672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4EA0"/>
                </a:solidFill>
              </a:rPr>
              <a:t>TMS (Transport Management System)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792224"/>
            <a:ext cx="467258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</a:rPr>
              <a:t>물류·유통 기업의 출하 계획부터 배차 지시, 운송 실행,
운임 정산까지 전 과정을 통합 관리하는 운송관리 시스템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" y="2340864"/>
            <a:ext cx="1172718" cy="493776"/>
          </a:xfrm>
          <a:prstGeom prst="rect">
            <a:avLst/>
          </a:prstGeom>
          <a:solidFill>
            <a:srgbClr val="DBE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" y="2340864"/>
            <a:ext cx="1172718" cy="54864"/>
          </a:xfrm>
          <a:prstGeom prst="rect">
            <a:avLst/>
          </a:prstGeom>
          <a:solidFill>
            <a:srgbClr val="1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414016"/>
            <a:ext cx="117271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ERP
(출고지시)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5326" y="2487168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1902" y="2340864"/>
            <a:ext cx="1172718" cy="493776"/>
          </a:xfrm>
          <a:prstGeom prst="rect">
            <a:avLst/>
          </a:prstGeom>
          <a:solidFill>
            <a:srgbClr val="D0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01902" y="2340864"/>
            <a:ext cx="1172718" cy="5486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1902" y="2414016"/>
            <a:ext cx="117271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TMS
운송관리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4620" y="2487168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1196" y="2340864"/>
            <a:ext cx="1172718" cy="493776"/>
          </a:xfrm>
          <a:prstGeom prst="rect">
            <a:avLst/>
          </a:prstGeom>
          <a:solidFill>
            <a:srgbClr val="D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1196" y="2340864"/>
            <a:ext cx="1172718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1196" y="2414016"/>
            <a:ext cx="117271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WMS
창고관리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3914" y="2487168"/>
            <a:ext cx="9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B5563"/>
                </a:solidFill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20490" y="2340864"/>
            <a:ext cx="1172718" cy="493776"/>
          </a:xfrm>
          <a:prstGeom prst="rect">
            <a:avLst/>
          </a:prstGeom>
          <a:solidFill>
            <a:srgbClr val="D1F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20490" y="2340864"/>
            <a:ext cx="1172718" cy="54864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20490" y="2414016"/>
            <a:ext cx="117271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현장·차량
(운송)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" y="2944368"/>
            <a:ext cx="4818888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92608" y="2944368"/>
            <a:ext cx="402336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3090672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🗓️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2990088"/>
            <a:ext cx="4325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4EA0"/>
                </a:solidFill>
              </a:rPr>
              <a:t>배차 계획 자동화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3182112"/>
            <a:ext cx="4325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출고 데이터를 기반으로 차량 용량·경로·배송 우선순위를
자동 계산하여 최적 배차안 생성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3657600"/>
            <a:ext cx="4818888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2608" y="3657600"/>
            <a:ext cx="402336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3803904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3703320"/>
            <a:ext cx="4325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4EA0"/>
                </a:solidFill>
              </a:rPr>
              <a:t>차량·운전자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3895344"/>
            <a:ext cx="4325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차량 제원(톤수·적재중량·파렛트수) 및 운전자 정보를
통합 관리하고 배차에 자동 반영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" y="4370832"/>
            <a:ext cx="4818888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92608" y="4370832"/>
            <a:ext cx="402336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4517136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416552"/>
            <a:ext cx="4325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4EA0"/>
                </a:solidFill>
              </a:rPr>
              <a:t>납품처·경로 관리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" y="4608576"/>
            <a:ext cx="4325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납품처별 배송구역·우선순위·경유지 정보를 등록하고
운송경로별 비용 기준으로 운임 자동 산출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" y="5084064"/>
            <a:ext cx="4818888" cy="6583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2608" y="5084064"/>
            <a:ext cx="402336" cy="6583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608" y="5230368"/>
            <a:ext cx="402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E293B"/>
                </a:solidFill>
              </a:rPr>
              <a:t>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5129784"/>
            <a:ext cx="4325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4EA0"/>
                </a:solidFill>
              </a:rPr>
              <a:t>실적·비용 분석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321808"/>
            <a:ext cx="43251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배차 실적, 노선별 운임, 차량 가동률 등 KPI를
대시보드에서 실시간 모니터링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4960" y="1078992"/>
            <a:ext cx="6629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94960" y="1078992"/>
            <a:ext cx="6629400" cy="329184"/>
          </a:xfrm>
          <a:prstGeom prst="rect">
            <a:avLst/>
          </a:prstGeom>
          <a:solidFill>
            <a:srgbClr val="1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04688" y="1124712"/>
            <a:ext cx="6446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✨  TMS 도입 기대효과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22976" y="1517904"/>
            <a:ext cx="6373368" cy="113385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22976" y="1517904"/>
            <a:ext cx="6373368" cy="274320"/>
          </a:xfrm>
          <a:prstGeom prst="rect">
            <a:avLst/>
          </a:prstGeom>
          <a:solidFill>
            <a:srgbClr val="1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96128" y="1545336"/>
            <a:ext cx="6227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01  배차 업무 효율화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22976" y="1801368"/>
            <a:ext cx="3291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93B"/>
                </a:solidFill>
              </a:rPr>
              <a:t>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88736" y="1792224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수작업 배차 → 자동배차 전환으로 담당자 업무 부하 대폭 감소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88736" y="2066544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배차 처리 시간 단축 (목표: 기존 대비 70% 이상 절감)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88736" y="2340864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배차 오류·누락 사전 차단 및 배차 품질 표준화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22976" y="2743200"/>
            <a:ext cx="6373368" cy="1133856"/>
          </a:xfrm>
          <a:prstGeom prst="rect">
            <a:avLst/>
          </a:prstGeom>
          <a:solidFill>
            <a:srgbClr val="E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22976" y="2743200"/>
            <a:ext cx="6373368" cy="27432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96128" y="2770632"/>
            <a:ext cx="6227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02  운송비 절감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22976" y="3026664"/>
            <a:ext cx="3291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93B"/>
                </a:solidFill>
              </a:rPr>
              <a:t>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88736" y="3017520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적재율 최적화(혼적·분할 배차)로 공차율 및 운송비 절감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888736" y="3291840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경로 최적화로 불필요한 이동 거리·시간 단축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88736" y="3566160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운송경로별 비용 기준 자동 정산으로 운임 투명성 확보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22976" y="3968496"/>
            <a:ext cx="6373368" cy="1133856"/>
          </a:xfrm>
          <a:prstGeom prst="rect">
            <a:avLst/>
          </a:prstGeom>
          <a:solidFill>
            <a:srgbClr val="E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22976" y="3968496"/>
            <a:ext cx="6373368" cy="27432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96128" y="3995928"/>
            <a:ext cx="6227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03  고객 서비스 향상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22976" y="4251960"/>
            <a:ext cx="3291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93B"/>
                </a:solidFill>
              </a:rPr>
              <a:t>🎯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88736" y="4242816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납품처별 배송 우선순위 반영으로 납기 준수율 향상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88736" y="4517136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배송 현황 실시간 조회 및 이상 발생 시 즉각 대응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88736" y="4791456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정확한 배송 예정 시간(ETA) 제공으로 고객 신뢰도 제고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22976" y="5193792"/>
            <a:ext cx="6373368" cy="1133856"/>
          </a:xfrm>
          <a:prstGeom prst="rect">
            <a:avLst/>
          </a:prstGeom>
          <a:solidFill>
            <a:srgbClr val="F3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522976" y="5193792"/>
            <a:ext cx="6373368" cy="274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96128" y="5221224"/>
            <a:ext cx="62270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04  경영 의사결정 지원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22976" y="5477256"/>
            <a:ext cx="32918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293B"/>
                </a:solidFill>
              </a:rPr>
              <a:t>📈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888736" y="5468112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배차 실적·운임·차량 가동률 KPI 대시보드 실시간 제공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88736" y="5742432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노선별·차급별 비용 분석으로 운송 전략 수립 지원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88736" y="6016752"/>
            <a:ext cx="5861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•  ERP·WMS 데이터 연동으로 물류 전체 가시성 확보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6400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CAF9"/>
                </a:solidFill>
              </a:rPr>
              <a:t>kleannara TMS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25603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</a:rPr>
              <a:t>TMS 개발 일정 및 단계별 추진 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713232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FDBFF"/>
                </a:solidFill>
              </a:rPr>
              <a:t>개발팀  |  기준일: 2026년 5월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73152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BFDBFF"/>
                </a:solidFill>
              </a:rPr>
              <a:t>2 / 2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078992"/>
            <a:ext cx="11859768" cy="7132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1078992"/>
            <a:ext cx="54864" cy="71323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" y="1170432"/>
            <a:ext cx="475488" cy="50292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170432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1170432"/>
            <a:ext cx="5180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배차 효율화 개발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371600"/>
            <a:ext cx="51800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자동배차 기능을 통한 배차 효율화 향상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1554480"/>
            <a:ext cx="51800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F7B6C"/>
                </a:solidFill>
              </a:rPr>
              <a:t>📅 2026. 04 ~ 06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9340" y="1170432"/>
            <a:ext cx="475488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9340" y="1170432"/>
            <a:ext cx="475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9692" y="1170432"/>
            <a:ext cx="51800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E293B"/>
                </a:solidFill>
              </a:rPr>
              <a:t>차량관제 및 운송비 관리 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9692" y="1371600"/>
            <a:ext cx="51800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B5563"/>
                </a:solidFill>
              </a:rPr>
              <a:t>실시간 차량관제·운임 정산·실적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9692" y="1554480"/>
            <a:ext cx="51800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</a:rPr>
              <a:t>📅 2026. 07 ~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" y="1901952"/>
            <a:ext cx="11859768" cy="2944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4592" y="1901952"/>
            <a:ext cx="11859768" cy="329184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1947672"/>
            <a:ext cx="11676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📅  개발 일정 (2026년 4월 ~ 12월)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24328" y="2286000"/>
            <a:ext cx="1014984" cy="274320"/>
          </a:xfrm>
          <a:prstGeom prst="rect">
            <a:avLst/>
          </a:prstGeom>
          <a:solidFill>
            <a:srgbClr val="D0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24328" y="2295144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55"/>
                </a:solidFill>
              </a:rPr>
              <a:t>4월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2286000"/>
            <a:ext cx="1014984" cy="274320"/>
          </a:xfrm>
          <a:prstGeom prst="rect">
            <a:avLst/>
          </a:prstGeom>
          <a:solidFill>
            <a:srgbClr val="D0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2295144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55"/>
                </a:solidFill>
              </a:rPr>
              <a:t>5월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90872" y="2286000"/>
            <a:ext cx="1014984" cy="274320"/>
          </a:xfrm>
          <a:prstGeom prst="rect">
            <a:avLst/>
          </a:prstGeom>
          <a:solidFill>
            <a:srgbClr val="D0D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2295144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55"/>
                </a:solidFill>
              </a:rPr>
              <a:t>6월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24144" y="2286000"/>
            <a:ext cx="101498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24144" y="2295144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55"/>
                </a:solidFill>
              </a:rPr>
              <a:t>7월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7416" y="2286000"/>
            <a:ext cx="101498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7416" y="2295144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55"/>
                </a:solidFill>
              </a:rPr>
              <a:t>8월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90688" y="2286000"/>
            <a:ext cx="101498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0688" y="2295144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55"/>
                </a:solidFill>
              </a:rPr>
              <a:t>9월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2286000"/>
            <a:ext cx="101498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23960" y="2295144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55"/>
                </a:solidFill>
              </a:rPr>
              <a:t>10월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57232" y="2286000"/>
            <a:ext cx="101498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57232" y="2295144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55"/>
                </a:solidFill>
              </a:rPr>
              <a:t>11월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890504" y="2286000"/>
            <a:ext cx="1014984" cy="274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890504" y="2295144"/>
            <a:ext cx="1014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2B55"/>
                </a:solidFill>
              </a:rPr>
              <a:t>12월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5092" y="2286000"/>
            <a:ext cx="18288" cy="254203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63924" y="4681728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4444"/>
                </a:solidFill>
              </a:rPr>
              <a:t>▲ 현재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2578608"/>
            <a:ext cx="11676888" cy="269748"/>
          </a:xfrm>
          <a:prstGeom prst="rect">
            <a:avLst/>
          </a:prstGeom>
          <a:solidFill>
            <a:srgbClr val="E6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2615184"/>
            <a:ext cx="475488" cy="18288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2615184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1단계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" y="2596896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배차 효율화 개발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" y="2734056"/>
            <a:ext cx="16916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자동배차 기능 구현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15184" y="2633472"/>
            <a:ext cx="9299448" cy="1600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15184" y="2633472"/>
            <a:ext cx="3099816" cy="160020"/>
          </a:xfrm>
          <a:prstGeom prst="rect">
            <a:avLst/>
          </a:prstGeom>
          <a:solidFill>
            <a:srgbClr val="BBD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15184" y="2633472"/>
            <a:ext cx="2169871" cy="160020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51760" y="2633472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70%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88152" y="2660904"/>
            <a:ext cx="402336" cy="1051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88152" y="2660904"/>
            <a:ext cx="402336" cy="1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진행중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56032" y="2884932"/>
            <a:ext cx="11676888" cy="2697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7472" y="2903220"/>
            <a:ext cx="2148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  └ WMS 데이터 연동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7472" y="3040380"/>
            <a:ext cx="2148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출고문서·ERP 인터페이스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15184" y="2939796"/>
            <a:ext cx="9299448" cy="1600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15184" y="2939796"/>
            <a:ext cx="1549908" cy="160020"/>
          </a:xfrm>
          <a:prstGeom prst="rect">
            <a:avLst/>
          </a:prstGeom>
          <a:solidFill>
            <a:srgbClr val="BBD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15184" y="2939796"/>
            <a:ext cx="1549908" cy="1600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51760" y="2939796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38244" y="2967228"/>
            <a:ext cx="402336" cy="105156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38244" y="2967228"/>
            <a:ext cx="402336" cy="1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완료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6032" y="3191256"/>
            <a:ext cx="11676888" cy="2697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" y="3209544"/>
            <a:ext cx="2148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  └ 기준정보 관리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7472" y="3346704"/>
            <a:ext cx="2148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차량·납품처·운송경로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15184" y="3246120"/>
            <a:ext cx="9299448" cy="1600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131820" y="3246120"/>
            <a:ext cx="2066544" cy="160020"/>
          </a:xfrm>
          <a:prstGeom prst="rect">
            <a:avLst/>
          </a:prstGeom>
          <a:solidFill>
            <a:srgbClr val="BBD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131820" y="3246120"/>
            <a:ext cx="1653235" cy="1600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68396" y="3246120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80%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71516" y="3273552"/>
            <a:ext cx="402336" cy="1051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71516" y="3273552"/>
            <a:ext cx="402336" cy="1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진행중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56032" y="3497580"/>
            <a:ext cx="11676888" cy="2697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7472" y="3515868"/>
            <a:ext cx="2148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  └ 자동배차 알고리즘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7472" y="3653028"/>
            <a:ext cx="2148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배차전략·최적화·분할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15184" y="3552444"/>
            <a:ext cx="9299448" cy="1600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648456" y="3552444"/>
            <a:ext cx="2066544" cy="160020"/>
          </a:xfrm>
          <a:prstGeom prst="rect">
            <a:avLst/>
          </a:prstGeom>
          <a:solidFill>
            <a:srgbClr val="BBD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648456" y="3552444"/>
            <a:ext cx="1033272" cy="1600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85032" y="355244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50%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788152" y="3579876"/>
            <a:ext cx="402336" cy="10515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788152" y="3579876"/>
            <a:ext cx="402336" cy="1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진행중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2" y="3803904"/>
            <a:ext cx="11676888" cy="269748"/>
          </a:xfrm>
          <a:prstGeom prst="rect">
            <a:avLst/>
          </a:prstGeom>
          <a:solidFill>
            <a:srgbClr val="FFF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4320" y="3840480"/>
            <a:ext cx="475488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3840480"/>
            <a:ext cx="475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2단계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4672" y="3822192"/>
            <a:ext cx="1691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E293B"/>
                </a:solidFill>
              </a:rPr>
              <a:t>차량관제·운송비 관리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04672" y="3959352"/>
            <a:ext cx="16916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관제·정산·리포트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15184" y="3858768"/>
            <a:ext cx="9299448" cy="1600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715000" y="3858768"/>
            <a:ext cx="6199632" cy="160020"/>
          </a:xfrm>
          <a:prstGeom prst="rect">
            <a:avLst/>
          </a:prstGeom>
          <a:solidFill>
            <a:srgbClr val="F5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987784" y="3886200"/>
            <a:ext cx="402336" cy="1051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1987784" y="3886200"/>
            <a:ext cx="402336" cy="1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예정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56032" y="4110228"/>
            <a:ext cx="11676888" cy="2697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47472" y="4128516"/>
            <a:ext cx="2148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  └ GPS 차량 위치 관제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7472" y="4265676"/>
            <a:ext cx="2148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실시간 추적·이상 알림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615184" y="4165092"/>
            <a:ext cx="9299448" cy="1600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715000" y="4165092"/>
            <a:ext cx="2583180" cy="160020"/>
          </a:xfrm>
          <a:prstGeom prst="rect">
            <a:avLst/>
          </a:prstGeom>
          <a:solidFill>
            <a:srgbClr val="F5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71332" y="4192524"/>
            <a:ext cx="402336" cy="1051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71332" y="4192524"/>
            <a:ext cx="402336" cy="1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예정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032" y="4416552"/>
            <a:ext cx="11676888" cy="2697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7472" y="4434840"/>
            <a:ext cx="2148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  └ 운송비 자동 정산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7472" y="4572000"/>
            <a:ext cx="2148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경로·중량 기반 운임 계산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615184" y="4471416"/>
            <a:ext cx="9299448" cy="1600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264908" y="4471416"/>
            <a:ext cx="3099816" cy="160020"/>
          </a:xfrm>
          <a:prstGeom prst="rect">
            <a:avLst/>
          </a:prstGeom>
          <a:solidFill>
            <a:srgbClr val="F5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437876" y="4498848"/>
            <a:ext cx="402336" cy="1051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437876" y="4498848"/>
            <a:ext cx="402336" cy="1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예정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56032" y="4722876"/>
            <a:ext cx="11676888" cy="26974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47472" y="4741164"/>
            <a:ext cx="2148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  └ 실적·KPI 리포트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47472" y="4878324"/>
            <a:ext cx="21488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4B5563"/>
                </a:solidFill>
              </a:rPr>
              <a:t>대시보드·분석 고도화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15184" y="4777740"/>
            <a:ext cx="9299448" cy="16002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848088" y="4777740"/>
            <a:ext cx="2066544" cy="160020"/>
          </a:xfrm>
          <a:prstGeom prst="rect">
            <a:avLst/>
          </a:prstGeom>
          <a:solidFill>
            <a:srgbClr val="F5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987784" y="4805172"/>
            <a:ext cx="402336" cy="1051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1987784" y="4805172"/>
            <a:ext cx="402336" cy="1051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예정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4592" y="4974336"/>
            <a:ext cx="11859768" cy="1755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64592" y="4974336"/>
            <a:ext cx="11859768" cy="329184"/>
          </a:xfrm>
          <a:prstGeom prst="rect">
            <a:avLst/>
          </a:prstGeom>
          <a:solidFill>
            <a:srgbClr val="16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74320" y="5020056"/>
            <a:ext cx="11676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📋  단계별 주요 산출물 및 목표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92608" y="5376672"/>
            <a:ext cx="5783580" cy="1280160"/>
          </a:xfrm>
          <a:prstGeom prst="rect">
            <a:avLst/>
          </a:prstGeom>
          <a:solidFill>
            <a:srgbClr val="E8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92608" y="5376672"/>
            <a:ext cx="5783580" cy="237744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65760" y="5394960"/>
            <a:ext cx="56738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1단계  |  배차 효율화 (4월 ~ 6월)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02336" y="5650992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✔ WMS·ERP 출고 데이터 연동 완료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02336" y="5852160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✔ 차량·납품처·운송경로 기준정보 관리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2336" y="6053328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✔ 고정차량 관리 (TMS_CARCLASS 16차급)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02336" y="6254496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✔ 자동배차 알고리즘 (용량·경로 최적화)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02336" y="6455664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✔ 배차전략 파라미터 설정 UI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2336" y="6656832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◷ 배차 결과 확정 및 지시서 출력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131052" y="5376672"/>
            <a:ext cx="5783580" cy="128016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131052" y="5376672"/>
            <a:ext cx="5783580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204204" y="5394960"/>
            <a:ext cx="5673852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2단계  |  차량관제·운송비 관리 (7월 ~ 12월)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40780" y="5650992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◷ GPS 기반 실시간 차량 위치 관제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40780" y="5852160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◷ 이상 경보 및 배송 지연 알림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240780" y="6053328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◷ 경로·중량 기반 운송비 자동 정산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40780" y="6254496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◷ 차량별·노선별 운행 실적 분석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40780" y="6455664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◷ 월별·고객사별 KPI 대시보드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240780" y="6656832"/>
            <a:ext cx="5618988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◷ 운전자 모바일 배차지시 연동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2608" y="6528816"/>
            <a:ext cx="164592" cy="118872"/>
          </a:xfrm>
          <a:prstGeom prst="rect">
            <a:avLst/>
          </a:prstGeom>
          <a:solidFill>
            <a:srgbClr val="0F7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93776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완료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298448" y="6528816"/>
            <a:ext cx="164592" cy="1188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499616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진행중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304288" y="6528816"/>
            <a:ext cx="164592" cy="1188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505456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예정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310128" y="6528816"/>
            <a:ext cx="164592" cy="11887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511296" y="6473952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B5563"/>
                </a:solidFill>
              </a:rPr>
              <a:t>현재 시점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